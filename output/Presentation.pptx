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E44AD"/>
                </a:solidFill>
              </a:defRPr>
            </a:pPr>
            <a:r>
              <a:t>RESEARCH &amp; CODE ANALYSIS PRESENTATION</a:t>
            </a:r>
          </a:p>
          <a:p>
            <a:pPr>
              <a:defRPr sz="3200" b="1">
                <a:solidFill>
                  <a:srgbClr val="2C3E50"/>
                </a:solidFill>
              </a:defRPr>
            </a:pPr>
            <a:r>
              <a:t>FastAPI Web Dashboard Test</a:t>
            </a:r>
          </a:p>
          <a:p>
            <a:br/>
            <a:pPr>
              <a:defRPr sz="1400">
                <a:solidFill>
                  <a:srgbClr val="7F8C8D"/>
                </a:solidFill>
              </a:defRPr>
            </a:pPr>
            <a:r>
              <a:t>Generated by Layer 6 Supervisor Engine  |  Critic Score: 92.0/100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RESEARCH COMPANION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6-Layer Multi-Agent Architecture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500" b="1">
                <a:solidFill>
                  <a:srgbClr val="2C3E50"/>
                </a:solidFill>
              </a:defRPr>
            </a:pPr>
            <a:r>
              <a:t>• Layer 1: Input &amp; Parsing: </a:t>
            </a:r>
            <a:r>
              <a:rPr b="0">
                <a:solidFill>
                  <a:srgbClr val="7F8C8D"/>
                </a:solidFill>
              </a:rPr>
              <a:t>Code Ingestor, Data Ingestor, Style Agent, Query Parser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2: Code Analysis: </a:t>
            </a:r>
            <a:r>
              <a:rPr b="0">
                <a:solidFill>
                  <a:srgbClr val="7F8C8D"/>
                </a:solidFill>
              </a:rPr>
              <a:t>Code Breaker, Algo Detector, Complexity Analyzer, HW Mapper, Bug/Edge Case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3: Research &amp; Grounding: </a:t>
            </a:r>
            <a:r>
              <a:rPr b="0">
                <a:solidFill>
                  <a:srgbClr val="7F8C8D"/>
                </a:solidFill>
              </a:rPr>
              <a:t>ArXiv Agent, CS Agent, Electronics Agent, Literature Agent, Gap Finder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4: Synthesis &amp; Structure: </a:t>
            </a:r>
            <a:r>
              <a:rPr b="0">
                <a:solidFill>
                  <a:srgbClr val="7F8C8D"/>
                </a:solidFill>
              </a:rPr>
              <a:t>Connector, Outline Builder, Citation Agent, Critic Agent</a:t>
            </a:r>
          </a:p>
          <a:p>
            <a:pPr>
              <a:defRPr sz="1500" b="1">
                <a:solidFill>
                  <a:srgbClr val="2C3E50"/>
                </a:solidFill>
              </a:defRPr>
            </a:pPr>
            <a:r>
              <a:t>• Layer 5: Output Generation: </a:t>
            </a:r>
            <a:r>
              <a:rPr b="0">
                <a:solidFill>
                  <a:srgbClr val="7F8C8D"/>
                </a:solidFill>
              </a:rPr>
              <a:t>Writer Agent, PDF Agent, PPT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LAYER 2 METRICS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Code Analysis &amp; Algorithmic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Analyzed 1 files (34 lines of code).</a:t>
            </a:r>
          </a:p>
          <a:p>
            <a:br/>
            <a:pPr>
              <a:defRPr sz="1400">
                <a:solidFill>
                  <a:srgbClr val="8E44AD"/>
                </a:solidFill>
              </a:defRPr>
            </a:pPr>
            <a:r>
              <a:t>Detected Algorithms: Event-Driven Architecture / Message Bus, Async Concurrent Task Pipeline, Hash Indexing &amp; Lookup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main(): Time: O(1), Space: O(1)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__init__(): Time: O(1), Space: O(N)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subscribe(): Time: O(1), Space: O(N)</a:t>
            </a:r>
          </a:p>
          <a:p>
            <a:pPr>
              <a:defRPr sz="1300">
                <a:solidFill>
                  <a:srgbClr val="2C3E50"/>
                </a:solidFill>
              </a:defRPr>
            </a:pPr>
            <a:r>
              <a:t>  • publish_event(): Time: O(N), Space: O(N)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LAYER 3 &amp; 4 GROUNDING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Novelty Gaps &amp; Literature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1: Absence of formal verification for 'Event-Driven Architecture / Message Bus' under high-concurrency memory limits.</a:t>
            </a:r>
          </a:p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2: Unresolved edge-case handling in exception catching (Asynchronous Unhandled Rejection), requiring defensive agent guardrails.</a:t>
            </a:r>
          </a:p>
          <a:p>
            <a:pPr>
              <a:spcAft>
                <a:spcPts val="1200"/>
              </a:spcAft>
              <a:defRPr sz="1500">
                <a:solidFill>
                  <a:srgbClr val="2C3E50"/>
                </a:solidFill>
              </a:defRPr>
            </a:pPr>
            <a:r>
              <a:t>✔ Gap 3: Opportunity to optimize Big-O complexity through hybrid asynchronous event bus streaming.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E44AD"/>
                </a:solidFill>
              </a:defRPr>
            </a:pPr>
            <a:r>
              <a:t>BIBLIOGRAPHY</a:t>
            </a: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Peer-Reviewed References &amp; Citations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[1] Alessandro Tundo, Chiara Castelnovo, Marco Mobilio et al., "Declarative Dashboard Generation," arXiv:2101.00274v1, 2021.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[2] Gerhard Gossen, Elena Demidova, Thomas Risse, "Analyzing Web Archives Through Topic and Event Focused Sub-collections," arXiv:1612.05413v1, 2016.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[3] Thomas Minier, Hala Skaf-Molli, Pascal Molli, "SaGe: Web Preemption for Public SPARQL Query Services," arXiv:1902.04790v1, 2019.</a:t>
            </a:r>
          </a:p>
          <a:p>
            <a:pPr>
              <a:spcAft>
                <a:spcPts val="1000"/>
              </a:spcAft>
              <a:defRPr sz="1300">
                <a:solidFill>
                  <a:srgbClr val="2C3E50"/>
                </a:solidFill>
              </a:defRPr>
            </a:pPr>
            <a:r>
              <a:t>[4] Luca Vassio, Idilio Drago, Marco Mellia et al., "You, the Web and Your Device: Longitudinal Characterization of Browsing Habits," arXiv:1806.07158v2, 2018.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