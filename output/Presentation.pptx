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F8F9FA"/>
          </a:solidFill>
          <a:ln w="25400">
            <a:solidFill>
              <a:srgbClr val="8E44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371600"/>
            <a:ext cx="9966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E44AD"/>
                </a:solidFill>
              </a:defRPr>
            </a:pPr>
            <a:r>
              <a:t>RESEARCH &amp; CODE ANALYSIS PRESENTATION</a:t>
            </a:r>
          </a:p>
          <a:p>
            <a:pPr>
              <a:defRPr sz="3200" b="1">
                <a:solidFill>
                  <a:srgbClr val="2C3E50"/>
                </a:solidFill>
              </a:defRPr>
            </a:pPr>
            <a:r>
              <a:t>Autonomous Multi-Agent Architecture for System Code Analysis &amp; Research Synthesis</a:t>
            </a:r>
          </a:p>
          <a:p>
            <a:br/>
            <a:pPr>
              <a:defRPr sz="1400">
                <a:solidFill>
                  <a:srgbClr val="7F8C8D"/>
                </a:solidFill>
              </a:defRPr>
            </a:pPr>
            <a:r>
              <a:t>Generated by Layer 6 Supervisor Engine  |  Critic Score: 92.0/100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8E44AD"/>
                </a:solidFill>
              </a:defRPr>
            </a:pPr>
            <a:r>
              <a:t>RESEARCH COMPANION</a:t>
            </a:r>
          </a:p>
          <a:p>
            <a:pPr>
              <a:defRPr sz="2400" b="1">
                <a:solidFill>
                  <a:srgbClr val="2C3E50"/>
                </a:solidFill>
              </a:defRPr>
            </a:pPr>
            <a:r>
              <a:t>6-Layer Multi-Agent Architecture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500" b="1">
                <a:solidFill>
                  <a:srgbClr val="2C3E50"/>
                </a:solidFill>
              </a:defRPr>
            </a:pPr>
            <a:r>
              <a:t>• Layer 1: Input &amp; Parsing: </a:t>
            </a:r>
            <a:r>
              <a:rPr b="0">
                <a:solidFill>
                  <a:srgbClr val="7F8C8D"/>
                </a:solidFill>
              </a:rPr>
              <a:t>Code Ingestor, Data Ingestor, Style Agent, Query Parser</a:t>
            </a:r>
          </a:p>
          <a:p>
            <a:pPr>
              <a:defRPr sz="1500" b="1">
                <a:solidFill>
                  <a:srgbClr val="2C3E50"/>
                </a:solidFill>
              </a:defRPr>
            </a:pPr>
            <a:r>
              <a:t>• Layer 2: Code Analysis: </a:t>
            </a:r>
            <a:r>
              <a:rPr b="0">
                <a:solidFill>
                  <a:srgbClr val="7F8C8D"/>
                </a:solidFill>
              </a:rPr>
              <a:t>Code Breaker, Algo Detector, Complexity Analyzer, HW Mapper, Bug/Edge Case</a:t>
            </a:r>
          </a:p>
          <a:p>
            <a:pPr>
              <a:defRPr sz="1500" b="1">
                <a:solidFill>
                  <a:srgbClr val="2C3E50"/>
                </a:solidFill>
              </a:defRPr>
            </a:pPr>
            <a:r>
              <a:t>• Layer 3: Research &amp; Grounding: </a:t>
            </a:r>
            <a:r>
              <a:rPr b="0">
                <a:solidFill>
                  <a:srgbClr val="7F8C8D"/>
                </a:solidFill>
              </a:rPr>
              <a:t>ArXiv Agent, CS Agent, Electronics Agent, Literature Agent, Gap Finder</a:t>
            </a:r>
          </a:p>
          <a:p>
            <a:pPr>
              <a:defRPr sz="1500" b="1">
                <a:solidFill>
                  <a:srgbClr val="2C3E50"/>
                </a:solidFill>
              </a:defRPr>
            </a:pPr>
            <a:r>
              <a:t>• Layer 4: Synthesis &amp; Structure: </a:t>
            </a:r>
            <a:r>
              <a:rPr b="0">
                <a:solidFill>
                  <a:srgbClr val="7F8C8D"/>
                </a:solidFill>
              </a:rPr>
              <a:t>Connector, Outline Builder, Citation Agent, Critic Agent</a:t>
            </a:r>
          </a:p>
          <a:p>
            <a:pPr>
              <a:defRPr sz="1500" b="1">
                <a:solidFill>
                  <a:srgbClr val="2C3E50"/>
                </a:solidFill>
              </a:defRPr>
            </a:pPr>
            <a:r>
              <a:t>• Layer 5: Output Generation: </a:t>
            </a:r>
            <a:r>
              <a:rPr b="0">
                <a:solidFill>
                  <a:srgbClr val="7F8C8D"/>
                </a:solidFill>
              </a:rPr>
              <a:t>Writer Agent, PDF Agent, PPT Agent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8E44AD"/>
                </a:solidFill>
              </a:defRPr>
            </a:pPr>
            <a:r>
              <a:t>LAYER 2 METRICS</a:t>
            </a:r>
          </a:p>
          <a:p>
            <a:pPr>
              <a:defRPr sz="2400" b="1">
                <a:solidFill>
                  <a:srgbClr val="2C3E50"/>
                </a:solidFill>
              </a:defRPr>
            </a:pPr>
            <a:r>
              <a:t>Code Analysis &amp; Algorithmic Profiling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C3E50"/>
                </a:solidFill>
              </a:defRPr>
            </a:pPr>
            <a:r>
              <a:t>Analyzed 1 files (34 lines of code).</a:t>
            </a:r>
          </a:p>
          <a:p>
            <a:br/>
            <a:pPr>
              <a:defRPr sz="1400">
                <a:solidFill>
                  <a:srgbClr val="8E44AD"/>
                </a:solidFill>
              </a:defRPr>
            </a:pPr>
            <a:r>
              <a:t>Detected Algorithms: Event-Driven Architecture / Message Bus, Async Concurrent Task Pipeline, Hash Indexing &amp; Lookup</a:t>
            </a:r>
          </a:p>
          <a:p>
            <a:pPr>
              <a:defRPr sz="1300">
                <a:solidFill>
                  <a:srgbClr val="2C3E50"/>
                </a:solidFill>
              </a:defRPr>
            </a:pPr>
            <a:r>
              <a:t>  • main(): Time: O(1), Space: O(1)</a:t>
            </a:r>
          </a:p>
          <a:p>
            <a:pPr>
              <a:defRPr sz="1300">
                <a:solidFill>
                  <a:srgbClr val="2C3E50"/>
                </a:solidFill>
              </a:defRPr>
            </a:pPr>
            <a:r>
              <a:t>  • __init__(): Time: O(1), Space: O(N)</a:t>
            </a:r>
          </a:p>
          <a:p>
            <a:pPr>
              <a:defRPr sz="1300">
                <a:solidFill>
                  <a:srgbClr val="2C3E50"/>
                </a:solidFill>
              </a:defRPr>
            </a:pPr>
            <a:r>
              <a:t>  • subscribe(): Time: O(1), Space: O(N)</a:t>
            </a:r>
          </a:p>
          <a:p>
            <a:pPr>
              <a:defRPr sz="1300">
                <a:solidFill>
                  <a:srgbClr val="2C3E50"/>
                </a:solidFill>
              </a:defRPr>
            </a:pPr>
            <a:r>
              <a:t>  • publish_event(): Time: O(N), Space: O(N)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8E44AD"/>
                </a:solidFill>
              </a:defRPr>
            </a:pPr>
            <a:r>
              <a:t>LAYER 3 &amp; 4 GROUNDING</a:t>
            </a:r>
          </a:p>
          <a:p>
            <a:pPr>
              <a:defRPr sz="2400" b="1">
                <a:solidFill>
                  <a:srgbClr val="2C3E50"/>
                </a:solidFill>
              </a:defRPr>
            </a:pPr>
            <a:r>
              <a:t>Novelty Gaps &amp; Literature Synthesis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1500">
                <a:solidFill>
                  <a:srgbClr val="2C3E50"/>
                </a:solidFill>
              </a:defRPr>
            </a:pPr>
            <a:r>
              <a:t>✔ Gap 1: Absence of formal verification for 'Event-Driven Architecture / Message Bus' under high-concurrency memory limits.</a:t>
            </a:r>
          </a:p>
          <a:p>
            <a:pPr>
              <a:spcAft>
                <a:spcPts val="1200"/>
              </a:spcAft>
              <a:defRPr sz="1500">
                <a:solidFill>
                  <a:srgbClr val="2C3E50"/>
                </a:solidFill>
              </a:defRPr>
            </a:pPr>
            <a:r>
              <a:t>✔ Gap 2: Unresolved edge-case handling in exception catching (Asynchronous Unhandled Rejection), requiring defensive agent guardrails.</a:t>
            </a:r>
          </a:p>
          <a:p>
            <a:pPr>
              <a:spcAft>
                <a:spcPts val="1200"/>
              </a:spcAft>
              <a:defRPr sz="1500">
                <a:solidFill>
                  <a:srgbClr val="2C3E50"/>
                </a:solidFill>
              </a:defRPr>
            </a:pPr>
            <a:r>
              <a:t>✔ Gap 3: Opportunity to optimize Big-O complexity through hybrid asynchronous event bus streaming.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8E44AD"/>
                </a:solidFill>
              </a:defRPr>
            </a:pPr>
            <a:r>
              <a:t>BIBLIOGRAPHY</a:t>
            </a:r>
          </a:p>
          <a:p>
            <a:pPr>
              <a:defRPr sz="2400" b="1">
                <a:solidFill>
                  <a:srgbClr val="2C3E50"/>
                </a:solidFill>
              </a:defRPr>
            </a:pPr>
            <a:r>
              <a:t>Peer-Reviewed References &amp; Citations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300">
                <a:solidFill>
                  <a:srgbClr val="2C3E50"/>
                </a:solidFill>
              </a:defRPr>
            </a:pPr>
            <a:r>
              <a:t>[1] Changxi Zhu, Mehdi Dastani, Shihan Wang, "A Survey of Multi-Agent Deep Reinforcement Learning with Communication," arXiv:2203.08975v2, 2022.</a:t>
            </a:r>
          </a:p>
          <a:p>
            <a:pPr>
              <a:spcAft>
                <a:spcPts val="1000"/>
              </a:spcAft>
              <a:defRPr sz="1300">
                <a:solidFill>
                  <a:srgbClr val="2C3E50"/>
                </a:solidFill>
              </a:defRPr>
            </a:pPr>
            <a:r>
              <a:t>[2] F. Bredell, H. A. Engelbrecht, J. C. Schoeman, "Augmenting the action space with conventions to improve multi-agent cooperation in Hanabi," arXiv:2412.06333v3, 2024.</a:t>
            </a:r>
          </a:p>
          <a:p>
            <a:pPr>
              <a:spcAft>
                <a:spcPts val="1000"/>
              </a:spcAft>
              <a:defRPr sz="1300">
                <a:solidFill>
                  <a:srgbClr val="2C3E50"/>
                </a:solidFill>
              </a:defRPr>
            </a:pPr>
            <a:r>
              <a:t>[3] Muhammad Haseeb, "Context Engineering for Multi-Agent LLM Code Assistants Using Elicit, NotebookLM, ChatGPT, and Claude Code," arXiv:2508.08322v1, 2025.</a:t>
            </a:r>
          </a:p>
          <a:p>
            <a:pPr>
              <a:spcAft>
                <a:spcPts val="1000"/>
              </a:spcAft>
              <a:defRPr sz="1300">
                <a:solidFill>
                  <a:srgbClr val="2C3E50"/>
                </a:solidFill>
              </a:defRPr>
            </a:pPr>
            <a:r>
              <a:t>[4] Andrés Holgado-Sánchez, Holger Billhardt, Alberto Fernández et al., "Learning the Value Systems of Agents with Preference-based and Inverse Reinforcement Learning," arXiv:2602.04518v1, 2026.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