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E44AD"/>
                </a:solidFill>
              </a:defRPr>
            </a:pPr>
            <a:r>
              <a:t>RESEARCH &amp; CODE ANALYSIS PRESENTATION</a:t>
            </a:r>
          </a:p>
          <a:p>
            <a:pPr>
              <a:defRPr sz="3200" b="1">
                <a:solidFill>
                  <a:srgbClr val="2C3E50"/>
                </a:solidFill>
              </a:defRPr>
            </a:pPr>
            <a:r>
              <a:t>Hybrid Mamba-Transformer Autonomous Systems</a:t>
            </a:r>
          </a:p>
          <a:p>
            <a:br/>
            <a:pPr>
              <a:defRPr sz="1400">
                <a:solidFill>
                  <a:srgbClr val="7F8C8D"/>
                </a:solidFill>
              </a:defRPr>
            </a:pPr>
            <a:r>
              <a:t>Generated by Layer 6 Supervisor Engine  |  Critic Score: 92.0/100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E44AD"/>
                </a:solidFill>
              </a:defRPr>
            </a:pPr>
            <a:r>
              <a:t>RESEARCH COMPANION</a:t>
            </a:r>
          </a:p>
          <a:p>
            <a:pPr>
              <a:defRPr sz="2400" b="1">
                <a:solidFill>
                  <a:srgbClr val="2C3E50"/>
                </a:solidFill>
              </a:defRPr>
            </a:pPr>
            <a:r>
              <a:t>6-Layer Multi-Agent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 b="1">
                <a:solidFill>
                  <a:srgbClr val="2C3E50"/>
                </a:solidFill>
              </a:defRPr>
            </a:pPr>
            <a:r>
              <a:t>• Layer 1: Input &amp; Parsing: </a:t>
            </a:r>
            <a:r>
              <a:rPr b="0">
                <a:solidFill>
                  <a:srgbClr val="7F8C8D"/>
                </a:solidFill>
              </a:rPr>
              <a:t>Code Ingestor, Data Ingestor, Style Agent, Query Parser</a:t>
            </a:r>
          </a:p>
          <a:p>
            <a:pPr>
              <a:defRPr sz="1500" b="1">
                <a:solidFill>
                  <a:srgbClr val="2C3E50"/>
                </a:solidFill>
              </a:defRPr>
            </a:pPr>
            <a:r>
              <a:t>• Layer 2: Code Analysis: </a:t>
            </a:r>
            <a:r>
              <a:rPr b="0">
                <a:solidFill>
                  <a:srgbClr val="7F8C8D"/>
                </a:solidFill>
              </a:rPr>
              <a:t>Code Breaker, Algo Detector, Complexity Analyzer, HW Mapper, Bug/Edge Case</a:t>
            </a:r>
          </a:p>
          <a:p>
            <a:pPr>
              <a:defRPr sz="1500" b="1">
                <a:solidFill>
                  <a:srgbClr val="2C3E50"/>
                </a:solidFill>
              </a:defRPr>
            </a:pPr>
            <a:r>
              <a:t>• Layer 3: Research &amp; Grounding: </a:t>
            </a:r>
            <a:r>
              <a:rPr b="0">
                <a:solidFill>
                  <a:srgbClr val="7F8C8D"/>
                </a:solidFill>
              </a:rPr>
              <a:t>ArXiv Agent, CS Agent, Electronics Agent, Literature Agent, Gap Finder</a:t>
            </a:r>
          </a:p>
          <a:p>
            <a:pPr>
              <a:defRPr sz="1500" b="1">
                <a:solidFill>
                  <a:srgbClr val="2C3E50"/>
                </a:solidFill>
              </a:defRPr>
            </a:pPr>
            <a:r>
              <a:t>• Layer 4: Synthesis &amp; Structure: </a:t>
            </a:r>
            <a:r>
              <a:rPr b="0">
                <a:solidFill>
                  <a:srgbClr val="7F8C8D"/>
                </a:solidFill>
              </a:rPr>
              <a:t>Connector, Outline Builder, Citation Agent, Critic Agent</a:t>
            </a:r>
          </a:p>
          <a:p>
            <a:pPr>
              <a:defRPr sz="1500" b="1">
                <a:solidFill>
                  <a:srgbClr val="2C3E50"/>
                </a:solidFill>
              </a:defRPr>
            </a:pPr>
            <a:r>
              <a:t>• Layer 5: Output Generation: </a:t>
            </a:r>
            <a:r>
              <a:rPr b="0">
                <a:solidFill>
                  <a:srgbClr val="7F8C8D"/>
                </a:solidFill>
              </a:rPr>
              <a:t>Writer Agent, PDF Agent, PPT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E44AD"/>
                </a:solidFill>
              </a:defRPr>
            </a:pPr>
            <a:r>
              <a:t>LAYER 2 METRICS</a:t>
            </a:r>
          </a:p>
          <a:p>
            <a:pPr>
              <a:defRPr sz="2400" b="1">
                <a:solidFill>
                  <a:srgbClr val="2C3E50"/>
                </a:solidFill>
              </a:defRPr>
            </a:pPr>
            <a:r>
              <a:t>Code Analysis &amp; Algorithmic Profiling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Analyzed 1 files (34 lines of code).</a:t>
            </a:r>
          </a:p>
          <a:p>
            <a:br/>
            <a:pPr>
              <a:defRPr sz="1400">
                <a:solidFill>
                  <a:srgbClr val="8E44AD"/>
                </a:solidFill>
              </a:defRPr>
            </a:pPr>
            <a:r>
              <a:t>Detected Algorithms: Event-Driven Architecture / Message Bus, Async Concurrent Task Pipeline, Hash Indexing &amp; Lookup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  • main(): Time: O(1), Space: O(1)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  • __init__(): Time: O(1), Space: O(N)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  • subscribe(): Time: O(1), Space: O(N)</a:t>
            </a:r>
          </a:p>
          <a:p>
            <a:pPr>
              <a:defRPr sz="1300">
                <a:solidFill>
                  <a:srgbClr val="2C3E50"/>
                </a:solidFill>
              </a:defRPr>
            </a:pPr>
            <a:r>
              <a:t>  • publish_event(): Time: O(N), Space: O(N)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E44AD"/>
                </a:solidFill>
              </a:defRPr>
            </a:pPr>
            <a:r>
              <a:t>LAYER 3 &amp; 4 GROUNDING</a:t>
            </a:r>
          </a:p>
          <a:p>
            <a:pPr>
              <a:defRPr sz="2400" b="1">
                <a:solidFill>
                  <a:srgbClr val="2C3E50"/>
                </a:solidFill>
              </a:defRPr>
            </a:pPr>
            <a:r>
              <a:t>Novelty Gaps &amp; Literature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500">
                <a:solidFill>
                  <a:srgbClr val="2C3E50"/>
                </a:solidFill>
              </a:defRPr>
            </a:pPr>
            <a:r>
              <a:t>✔ Gap 1: Absence of formal verification for 'Event-Driven Architecture / Message Bus' under high-concurrency memory limits.</a:t>
            </a:r>
          </a:p>
          <a:p>
            <a:pPr>
              <a:spcAft>
                <a:spcPts val="1200"/>
              </a:spcAft>
              <a:defRPr sz="1500">
                <a:solidFill>
                  <a:srgbClr val="2C3E50"/>
                </a:solidFill>
              </a:defRPr>
            </a:pPr>
            <a:r>
              <a:t>✔ Gap 2: Unresolved edge-case handling in exception catching (Asynchronous Unhandled Rejection), requiring defensive agent guardrails.</a:t>
            </a:r>
          </a:p>
          <a:p>
            <a:pPr>
              <a:spcAft>
                <a:spcPts val="1200"/>
              </a:spcAft>
              <a:defRPr sz="1500">
                <a:solidFill>
                  <a:srgbClr val="2C3E50"/>
                </a:solidFill>
              </a:defRPr>
            </a:pPr>
            <a:r>
              <a:t>✔ Gap 3: Opportunity to optimize Big-O complexity through hybrid asynchronous event bus streaming.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E44AD"/>
                </a:solidFill>
              </a:defRPr>
            </a:pPr>
            <a:r>
              <a:t>BIBLIOGRAPHY</a:t>
            </a:r>
          </a:p>
          <a:p>
            <a:pPr>
              <a:defRPr sz="2400" b="1">
                <a:solidFill>
                  <a:srgbClr val="2C3E50"/>
                </a:solidFill>
              </a:defRPr>
            </a:pPr>
            <a:r>
              <a:t>Peer-Reviewed References &amp; 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2C3E50"/>
                </a:solidFill>
              </a:defRPr>
            </a:pPr>
            <a:r>
              <a:t>[1] Leonardo Colombo, Maria Emma Eyrea Irazu, "Symmetries and periodic orbits in simple hybrid Routhian systems," arXiv:2001.08941v1, 2020.</a:t>
            </a:r>
          </a:p>
          <a:p>
            <a:pPr>
              <a:spcAft>
                <a:spcPts val="1000"/>
              </a:spcAft>
              <a:defRPr sz="1300">
                <a:solidFill>
                  <a:srgbClr val="2C3E50"/>
                </a:solidFill>
              </a:defRPr>
            </a:pPr>
            <a:r>
              <a:t>[2] Olena V. Mul, Delfim F. M. Torres, Volodymyr P. Kravchenko, "Dynamics of Controlled Hybrid Systems of Aerial Cable-Ways," arXiv:0607200v1, 2006.</a:t>
            </a:r>
          </a:p>
          <a:p>
            <a:pPr>
              <a:spcAft>
                <a:spcPts val="1000"/>
              </a:spcAft>
              <a:defRPr sz="1300">
                <a:solidFill>
                  <a:srgbClr val="2C3E50"/>
                </a:solidFill>
              </a:defRPr>
            </a:pPr>
            <a:r>
              <a:t>[3] Michael Malisoff, Frederic Mazenc, "Constructions of Strict Lyapunov Functions for Discrete Time and Hybrid Time-Varying Systems," arXiv:0610210v1, 2006.</a:t>
            </a:r>
          </a:p>
          <a:p>
            <a:pPr>
              <a:spcAft>
                <a:spcPts val="1000"/>
              </a:spcAft>
              <a:defRPr sz="1300">
                <a:solidFill>
                  <a:srgbClr val="2C3E50"/>
                </a:solidFill>
              </a:defRPr>
            </a:pPr>
            <a:r>
              <a:t>[4] Chinmay Vilas Samak, Tanmay Vilas Samak, Sivanathan Kandhasamy, "Control Strategies for Autonomous Vehicles," arXiv:2011.08729v3, 2020.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